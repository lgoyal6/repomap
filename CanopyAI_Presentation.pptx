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5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0" y="1097280"/>
            <a:ext cx="2103120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818CF8"/>
                </a:solidFill>
                <a:latin typeface="Calibri"/>
              </a:defRPr>
            </a:pPr>
            <a:r>
              <a:t>CanopyAI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5E7EB"/>
                </a:solidFill>
                <a:latin typeface="Calibri"/>
              </a:defRPr>
            </a:pPr>
            <a:r>
              <a:t>AI-Powered Codebase Visualization &amp;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  <a:latin typeface="Calibri"/>
              </a:defRPr>
            </a:pPr>
            <a:r>
              <a:t>See your code. Understand your code. Transform your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4754880"/>
            <a:ext cx="2743200" cy="54864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818CF8"/>
                </a:solidFill>
                <a:latin typeface="Calibri"/>
              </a:defRPr>
            </a:pPr>
            <a:r>
              <a:t>Team PRIMATES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IBM Granite Hackathon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5943600"/>
            <a:ext cx="1371600" cy="36576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6366F1"/>
                </a:solidFill>
                <a:latin typeface="Calibri"/>
              </a:defRPr>
            </a:pPr>
            <a:r>
              <a:t>VS Code Extension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5943600"/>
            <a:ext cx="1371600" cy="36576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79" y="5943600"/>
            <a:ext cx="1371600" cy="36576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59" y="5943600"/>
            <a:ext cx="1371600" cy="36576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IBM Granite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5943600"/>
            <a:ext cx="1371600" cy="36576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EC4899"/>
                </a:solidFill>
                <a:latin typeface="Calibri"/>
              </a:defRPr>
            </a:pPr>
            <a:r>
              <a:t>SVG Graphs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818CF8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02920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800" cy="19202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8CF8"/>
                </a:solidFill>
                <a:latin typeface="Calibri"/>
              </a:defRPr>
            </a:pPr>
            <a:r>
              <a:t>Codebase 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Large projects have hundreds of interconnected files.</a:t>
            </a:r>
            <a:br/>
            <a:r>
              <a:t>Understanding structure and dependencies is overwhelming.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0800" cy="19202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8CF8"/>
                </a:solidFill>
                <a:latin typeface="Calibri"/>
              </a:defRPr>
            </a:pPr>
            <a:r>
              <a:t>Onboarding Friction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New developers spend days reading code before contributing.</a:t>
            </a:r>
            <a:br/>
            <a:r>
              <a:t>No quick way to grasp what each file does.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02920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0800" cy="19202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8CF8"/>
                </a:solidFill>
                <a:latin typeface="Calibri"/>
              </a:defRPr>
            </a:pPr>
            <a:r>
              <a:t>Hidden Dependencies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Import chains and function call relationships are buried in code.</a:t>
            </a:r>
            <a:br/>
            <a:r>
              <a:t>Refactoring without visibility leads to breakage.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02920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931920"/>
            <a:ext cx="50800" cy="19202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8CF8"/>
                </a:solidFill>
                <a:latin typeface="Calibri"/>
              </a:defRPr>
            </a:pPr>
            <a:r>
              <a:t>Context Switching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663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Developers jump between files, terminals, and docs.</a:t>
            </a:r>
            <a:br/>
            <a:r>
              <a:t>No unified view combining structure + AI insight.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818CF8"/>
                </a:solidFill>
                <a:latin typeface="Calibri"/>
              </a:defRPr>
            </a:pPr>
            <a:r>
              <a:t>Our Solution: CanopyAI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t>A VS Code extension that turns your codebase into an interactive, AI-powered visual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737360" y="2286000"/>
            <a:ext cx="548640" cy="54864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18CF8"/>
                </a:solidFill>
                <a:latin typeface="Calibri"/>
              </a:defRPr>
            </a:pPr>
            <a:r>
              <a:t>Interactive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CA3AF"/>
                </a:solidFill>
                <a:latin typeface="Calibri"/>
              </a:defRPr>
            </a:pPr>
            <a:r>
              <a:t>Visualize your entire project</a:t>
            </a:r>
            <a:br/>
            <a:r>
              <a:t>as a navigable SVG tree</a:t>
            </a:r>
            <a:br/>
            <a:r>
              <a:t>with pan, zoom, and click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11680"/>
            <a:ext cx="256032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0" y="22860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AI Explanations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749039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CA3AF"/>
                </a:solidFill>
                <a:latin typeface="Calibri"/>
              </a:defRPr>
            </a:pPr>
            <a:r>
              <a:t>Click any file — IBM Granite</a:t>
            </a:r>
            <a:br/>
            <a:r>
              <a:t>explains it in 2 sentences.</a:t>
            </a:r>
            <a:br/>
            <a:r>
              <a:t>No more guessing.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56032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06640" y="22860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  <a:latin typeface="Calibri"/>
              </a:defRPr>
            </a:pPr>
            <a:r>
              <a:t>Dependency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49039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CA3AF"/>
                </a:solidFill>
                <a:latin typeface="Calibri"/>
              </a:defRPr>
            </a:pPr>
            <a:r>
              <a:t>See imports &amp; function calls</a:t>
            </a:r>
            <a:br/>
            <a:r>
              <a:t>across your codebase as</a:t>
            </a:r>
            <a:br/>
            <a:r>
              <a:t>an interactive 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011680"/>
            <a:ext cx="256032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241280" y="2286000"/>
            <a:ext cx="548640" cy="5486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C4899"/>
                </a:solidFill>
                <a:latin typeface="Calibri"/>
              </a:defRPr>
            </a:pPr>
            <a:r>
              <a:t>Chat &amp; Edit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749039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CA3AF"/>
                </a:solidFill>
                <a:latin typeface="Calibri"/>
              </a:defRPr>
            </a:pPr>
            <a:r>
              <a:t>Ask questions about code,</a:t>
            </a:r>
            <a:br/>
            <a:r>
              <a:t>get AI-suggested changes,</a:t>
            </a:r>
            <a:br/>
            <a:r>
              <a:t>apply with one click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818CF8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029200" cy="64008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818CF8"/>
                </a:solidFill>
                <a:latin typeface="Calibri"/>
              </a:defRPr>
            </a:pPr>
            <a:r>
              <a:t>VS Code Extension (TypeScript)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2011680" cy="502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extension.ts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Entry 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17520"/>
            <a:ext cx="2011680" cy="502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webviewProvider.ts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0632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Message Broker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657600"/>
            <a:ext cx="2011680" cy="502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fileSystemService.ts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703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File I/O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97679"/>
            <a:ext cx="2011680" cy="502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bobService.ts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34339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AI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937760"/>
            <a:ext cx="2011680" cy="502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dependencyService.ts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983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Code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18CF8"/>
                </a:solidFill>
                <a:latin typeface="Calibri"/>
              </a:defRPr>
            </a:pPr>
            <a:r>
              <a:t>postMessage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486400" y="3383280"/>
            <a:ext cx="1097280" cy="274320"/>
          </a:xfrm>
          <a:prstGeom prst="rightArrow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58000" y="1463040"/>
            <a:ext cx="4572000" cy="64008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Webview Layer (React + TypeScript)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2377440"/>
            <a:ext cx="1828800" cy="502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818CF8"/>
                </a:solidFill>
                <a:latin typeface="Calibri"/>
              </a:defRPr>
            </a:pPr>
            <a:r>
              <a:t>Graph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Interactive SVG tree visualization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017520"/>
            <a:ext cx="1828800" cy="502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Dependency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0632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Import &amp; call relationship graph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657600"/>
            <a:ext cx="1828800" cy="502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Chat Panel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703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Conversational AI interface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4297679"/>
            <a:ext cx="1828800" cy="502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File Tree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3433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Sidebar navigation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4937760"/>
            <a:ext cx="1828800" cy="502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C4899"/>
                </a:solidFill>
                <a:latin typeface="Calibri"/>
              </a:defRPr>
            </a:pPr>
            <a:r>
              <a:t>Context Menu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983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Right-click 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5669280"/>
            <a:ext cx="3931920" cy="5486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IBM Granite (via Bob CLI)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818CF8"/>
                </a:solidFill>
                <a:latin typeface="Calibri"/>
              </a:defRPr>
            </a:pPr>
            <a:r>
              <a:t>Interactive Graph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t>Your codebase as a navigable, color-coded visual tree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201168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File 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Language-specific colors with</a:t>
            </a:r>
            <a:br/>
            <a:r>
              <a:t>type badges (TS, PY, GO, etc.)</a:t>
            </a:r>
            <a:br/>
            <a:r>
              <a:t>and left accent bars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38328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63440" y="2011680"/>
            <a:ext cx="274320" cy="27432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199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Calibri"/>
              </a:defRPr>
            </a:pPr>
            <a:r>
              <a:t>Folder 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5603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Expandable directory containers</a:t>
            </a:r>
            <a:br/>
            <a:r>
              <a:t>with indigo accent styling</a:t>
            </a:r>
            <a:br/>
            <a:r>
              <a:t>and hierarchy display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38328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0" y="201168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Pan &amp; Zoom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5603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Scroll to zoom (0.3x–2x)</a:t>
            </a:r>
            <a:br/>
            <a:r>
              <a:t>Drag to pan across the graph</a:t>
            </a:r>
            <a:br/>
            <a:r>
              <a:t>Smooth cursor transitions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338328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" y="4480560"/>
            <a:ext cx="274320" cy="2743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C4899"/>
                </a:solidFill>
                <a:latin typeface="Calibri"/>
              </a:defRPr>
            </a:pPr>
            <a:r>
              <a:t>Click to Explain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Select any file node to trigger</a:t>
            </a:r>
            <a:br/>
            <a:r>
              <a:t>IBM Granite analysis —</a:t>
            </a:r>
            <a:br/>
            <a:r>
              <a:t>2-sentence explanation appears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4297680"/>
            <a:ext cx="338328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663440" y="448056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199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Hover Effects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50292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Nodes glow on hover with</a:t>
            </a:r>
            <a:br/>
            <a:r>
              <a:t>indigo highlight. Unrelated</a:t>
            </a:r>
            <a:br/>
            <a:r>
              <a:t>nodes dim to 20% opacity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297680"/>
            <a:ext cx="338328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12480" y="4480560"/>
            <a:ext cx="274320" cy="2743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  <a:latin typeface="Calibri"/>
              </a:defRPr>
            </a:pPr>
            <a:r>
              <a:t>Pulse Animation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0292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Explained nodes pulse with</a:t>
            </a:r>
            <a:br/>
            <a:r>
              <a:t>oscillating opacity (0.6–1.0)</a:t>
            </a:r>
            <a:br/>
            <a:r>
              <a:t>over 2-second cycles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818CF8"/>
                </a:solidFill>
                <a:latin typeface="Calibri"/>
              </a:defRPr>
            </a:pPr>
            <a:r>
              <a:t>Dependency Analysis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t>Multi-language parser mapping imports &amp; function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5E7EB"/>
                </a:solidFill>
                <a:latin typeface="Calibri"/>
              </a:defRPr>
            </a:pPr>
            <a:r>
              <a:t>Languages Supported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645920" cy="4572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2377440"/>
            <a:ext cx="1645920" cy="4572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JavaScript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377440"/>
            <a:ext cx="1645920" cy="4572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1645920" cy="4572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ACD7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971800"/>
            <a:ext cx="1645920" cy="4572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97316"/>
                </a:solidFill>
                <a:latin typeface="Calibri"/>
              </a:defRPr>
            </a:pPr>
            <a:r>
              <a:t>Java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971800"/>
            <a:ext cx="1645920" cy="4572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C4899"/>
                </a:solidFill>
                <a:latin typeface="Calibri"/>
              </a:defRPr>
            </a:pPr>
            <a:r>
              <a:t>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5E7EB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1. Scans workspace files (up to 200 files)</a:t>
            </a:r>
          </a:p>
          <a:p>
            <a:pPr>
              <a:spcAft>
                <a:spcPts val="4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2. Extracts imports using language-specific regex</a:t>
            </a:r>
          </a:p>
          <a:p>
            <a:pPr>
              <a:spcAft>
                <a:spcPts val="4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3. Extracts function definitions &amp; exports</a:t>
            </a:r>
          </a:p>
          <a:p>
            <a:pPr>
              <a:spcAft>
                <a:spcPts val="4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4. Resolves import paths across the project</a:t>
            </a:r>
          </a:p>
          <a:p>
            <a:pPr>
              <a:spcAft>
                <a:spcPts val="4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5. Detects function call relationships</a:t>
            </a:r>
          </a:p>
          <a:p>
            <a:pPr>
              <a:spcAft>
                <a:spcPts val="4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6. Groups nodes by folder for visualization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5E7EB"/>
                </a:solidFill>
                <a:latin typeface="Calibri"/>
              </a:defRPr>
            </a:pPr>
            <a:r>
              <a:t>Visual Encoding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468880"/>
            <a:ext cx="457200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CA3AF"/>
                </a:solidFill>
                <a:latin typeface="Calibri"/>
              </a:defRPr>
            </a:pPr>
            <a:r>
              <a:t>- - - -  Import Relationships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0175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Dashed lines connecting files that import from each other.</a:t>
            </a:r>
            <a:br/>
            <a:r>
              <a:t>Opacity 0.4, gray color (#4b5563)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4114800"/>
            <a:ext cx="457200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Calibri"/>
              </a:defRPr>
            </a:pPr>
            <a:r>
              <a:t>———  Function Call Relationships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6634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Solid indigo lines with arrows showing which functions</a:t>
            </a:r>
            <a:br/>
            <a:r>
              <a:t>call which. Opacity 0.6, brightens to 0.9 on hover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5E7EB"/>
                </a:solidFill>
                <a:latin typeface="Calibri"/>
              </a:defRPr>
            </a:pPr>
            <a:r>
              <a:t>Interactions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6217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Click file to expand functions  |  Hover to highlight connections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818CF8"/>
                </a:solidFill>
                <a:latin typeface="Calibri"/>
              </a:defRPr>
            </a:pPr>
            <a:r>
              <a:t>AI-Powered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t>IBM Granite via Bob CLI — bringing intelligence to every interaction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1  File Explanations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Click any file in the graph to get an instant AI summary.</a:t>
            </a:r>
            <a:br/>
            <a:r>
              <a:t>IBM Granite reads the file content (up to 8000 chars) and</a:t>
            </a:r>
            <a:br/>
            <a:r>
              <a:t>returns a concise 2-sentence explanation.</a:t>
            </a:r>
            <a:br/>
            <a:br/>
            <a:r>
              <a:t>Appears as an overlay card with a pulsing animation.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Calibri"/>
              </a:defRPr>
            </a:pPr>
            <a:r>
              <a:t>2  Conversational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Full chat interface with conversation history.</a:t>
            </a:r>
            <a:br/>
            <a:r>
              <a:t>Ask questions about any file in your codebase.</a:t>
            </a:r>
            <a:br/>
            <a:r>
              <a:t>Granite maintains context about the current file</a:t>
            </a:r>
            <a:br/>
            <a:r>
              <a:t>and provides detailed technical answers.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521208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C4899"/>
                </a:solidFill>
                <a:latin typeface="Calibri"/>
              </a:defRPr>
            </a:pPr>
            <a:r>
              <a:t>3  One-Click Code Apply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377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Ask Granite to modify code — it returns the complete</a:t>
            </a:r>
            <a:br/>
            <a:r>
              <a:t>updated file in a code block. Click 'Apply to file' to</a:t>
            </a:r>
            <a:br/>
            <a:r>
              <a:t>save changes directly to your workspace.</a:t>
            </a:r>
            <a:br/>
            <a:r>
              <a:t>Green checkmark confirms the change was applied.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97680"/>
            <a:ext cx="521208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Calibri"/>
              </a:defRPr>
            </a:pPr>
            <a:r>
              <a:t>Under the Hood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377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Prompt  --&gt;  Temp file  --&gt;  Bob CLI (JSON mode)</a:t>
            </a:r>
            <a:br/>
            <a:r>
              <a:t>                           --&gt;  Parse response  --&gt;  Display</a:t>
            </a:r>
            <a:br/>
            <a:br/>
            <a:r>
              <a:t>Timeout: 120s  |  Buffer: 5MB  |  Auto-cleanup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818CF8"/>
                </a:solidFill>
                <a:latin typeface="Calibri"/>
              </a:defRPr>
            </a:pPr>
            <a:r>
              <a:t>User Experience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645920"/>
            <a:ext cx="731520" cy="73152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E5E7EB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18CF8"/>
                </a:solidFill>
                <a:latin typeface="Calibri"/>
              </a:defRPr>
            </a:pPr>
            <a:r>
              <a:t>Open VS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Command Palette:</a:t>
            </a:r>
            <a:br/>
            <a:r>
              <a:t>'CanopyAI: Open Panel'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48840" y="1874519"/>
            <a:ext cx="320040" cy="1828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880360" y="164592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E5E7EB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Calibri"/>
              </a:defRPr>
            </a:pPr>
            <a:r>
              <a:t>Explore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32004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See your full project</a:t>
            </a:r>
            <a:br/>
            <a:r>
              <a:t>as a visual tree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14800" y="1874519"/>
            <a:ext cx="320040" cy="1828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846320" y="164592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E5E7EB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Click a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004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Get instant AI explanation</a:t>
            </a:r>
            <a:br/>
            <a:r>
              <a:t>in 2 sentences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80760" y="1874519"/>
            <a:ext cx="320040" cy="1828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12279" y="164592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E5E7EB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Ask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32004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Chat with Granite</a:t>
            </a:r>
            <a:br/>
            <a:r>
              <a:t>about any file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046719" y="1874519"/>
            <a:ext cx="320040" cy="1828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778240" y="164592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E5E7EB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C4899"/>
                </a:solidFill>
                <a:latin typeface="Calibri"/>
              </a:defRPr>
            </a:pPr>
            <a:r>
              <a:t>Apply Changes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2004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One-click apply AI</a:t>
            </a:r>
            <a:br/>
            <a:r>
              <a:t>suggested code edits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012680" y="1874519"/>
            <a:ext cx="320040" cy="1828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744200" y="1645920"/>
            <a:ext cx="731520" cy="7315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E5E7EB"/>
                </a:solidFill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  <a:latin typeface="Calibri"/>
              </a:defRPr>
            </a:pPr>
            <a:r>
              <a:t>View Dependencies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32004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Switch to dependency tab</a:t>
            </a:r>
            <a:br/>
            <a:r>
              <a:t>to see import/call 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5E7EB"/>
                </a:solidFill>
                <a:latin typeface="Calibri"/>
              </a:defRPr>
            </a:pPr>
            <a:r>
              <a:t>Key Interactions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120640"/>
            <a:ext cx="1097280" cy="41148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818CF8"/>
                </a:solidFill>
                <a:latin typeface="Calibri"/>
              </a:defRPr>
            </a:pPr>
            <a:r>
              <a:t>Left Click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69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Select file, trigger AI explanation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0" y="5120640"/>
            <a:ext cx="1097280" cy="41148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3B82F6"/>
                </a:solidFill>
                <a:latin typeface="Calibri"/>
              </a:defRPr>
            </a:pPr>
            <a:r>
              <a:t>Right Click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669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Context menu: Explain, Chat, View, Rename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5120640"/>
            <a:ext cx="1097280" cy="41148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Scroll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5669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Zoom in/out (0.3x to 2x range)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5120640"/>
            <a:ext cx="1097280" cy="41148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Drag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5669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Pan across the graph 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20" y="5120640"/>
            <a:ext cx="1097280" cy="41148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EC4899"/>
                </a:solidFill>
                <a:latin typeface="Calibri"/>
              </a:defRPr>
            </a:pPr>
            <a:r>
              <a:t>Hover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5669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Highlight node + connected dependencies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818CF8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Calibri"/>
              </a:defRPr>
            </a:pPr>
            <a:r>
              <a:t>Frontend / Webview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474720" cy="9144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488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React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Component-based UI with hooks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3474720" cy="9144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TypeScript 5.3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Type-safe development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3474720" cy="9144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34339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Vite 5.1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Fast bundling &amp; HMR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94959"/>
            <a:ext cx="3474720" cy="9144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4406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Pure SVG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521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Custom graph rendering — no D3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Extension / Backend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103120"/>
            <a:ext cx="3474720" cy="9144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0" y="21488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VS Code API 1.85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Webview panels &amp; file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200400"/>
            <a:ext cx="3474720" cy="9144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Node.js 18+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657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Extension host runtime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4297679"/>
            <a:ext cx="3474720" cy="9144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434339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postMessage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7548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Bidirectional communication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5394959"/>
            <a:ext cx="3474720" cy="9144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0" y="54406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File System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8521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Read, write, rename, scan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C4899"/>
                </a:solidFill>
                <a:latin typeface="Calibri"/>
              </a:defRPr>
            </a:pPr>
            <a:r>
              <a:t>AI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2103120"/>
            <a:ext cx="3474720" cy="9144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95360" y="21488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Calibri"/>
              </a:defRPr>
            </a:pPr>
            <a:r>
              <a:t>IBM Granite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Foundation model for code understanding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3200400"/>
            <a:ext cx="3474720" cy="9144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95360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Calibri"/>
              </a:defRPr>
            </a:pPr>
            <a:r>
              <a:t>Bob CLI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3657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Shell interface to Granite (JSON mode)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4297679"/>
            <a:ext cx="3474720" cy="9144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95360" y="434339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Calibri"/>
              </a:defRPr>
            </a:pPr>
            <a:r>
              <a:t>Prompt Engineering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7548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2-sentence explanations, chat context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0" y="5394959"/>
            <a:ext cx="3474720" cy="9144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95360" y="54406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Calibri"/>
              </a:defRPr>
            </a:pPr>
            <a:r>
              <a:t>Code Block Parsing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58521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Extract &amp; apply AI-suggested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818CF8"/>
                </a:solidFill>
                <a:latin typeface="Calibri"/>
              </a:defRPr>
            </a:pPr>
            <a:r>
              <a:t>What Sets CanopyAI Apart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11430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3500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Zero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002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Works directly with your VS Code workspace.</a:t>
            </a:r>
            <a:br/>
            <a:r>
              <a:t>No uploads, no GitHub cloning, no config files.</a:t>
            </a:r>
            <a:br/>
            <a:r>
              <a:t>Just open the panel and go.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698480" cy="11430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63500" cy="1143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Native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926079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Built as a VS Code extension — not a separate app.</a:t>
            </a:r>
            <a:br/>
            <a:r>
              <a:t>Reads and writes files directly in your workspace.</a:t>
            </a:r>
            <a:br/>
            <a:r>
              <a:t>No context switching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698480" cy="11430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63500" cy="1143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8CF8"/>
                </a:solidFill>
                <a:latin typeface="Calibri"/>
              </a:defRPr>
            </a:pPr>
            <a:r>
              <a:t>Visual + AI Combined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2519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Not just a graph tool. Not just an AI chat.</a:t>
            </a:r>
            <a:br/>
            <a:r>
              <a:t>The combination of visual navigation with</a:t>
            </a:r>
            <a:br/>
            <a:r>
              <a:t>AI explanations is uniquely powerful.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40679"/>
            <a:ext cx="10698480" cy="11430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5440679"/>
            <a:ext cx="63500" cy="1143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5321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C4899"/>
                </a:solidFill>
                <a:latin typeface="Calibri"/>
              </a:defRPr>
            </a:pPr>
            <a:r>
              <a:t>Multi-Language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577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Single tool handles TypeScript, JavaScript,</a:t>
            </a:r>
            <a:br/>
            <a:r>
              <a:t>Python, Go, Java, and Rust. One graph for</a:t>
            </a:r>
            <a:br/>
            <a:r>
              <a:t>your entire polyglot codebase.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0" y="1645920"/>
            <a:ext cx="2103120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818CF8"/>
                </a:solidFill>
                <a:latin typeface="Calibri"/>
              </a:defRPr>
            </a:pPr>
            <a:r>
              <a:t>CanopyAI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5E7EB"/>
                </a:solidFill>
                <a:latin typeface="Calibri"/>
              </a:defRPr>
            </a:pPr>
            <a:r>
              <a:t>See your code. Understand your code. Transform your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4114800"/>
            <a:ext cx="2743200" cy="54864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818CF8"/>
                </a:solidFill>
                <a:latin typeface="Calibri"/>
              </a:defRPr>
            </a:pPr>
            <a:r>
              <a:t>Team PRIMATES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18CF8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Built with React  |  TypeScript  |  VS Code API  |  IBM Granite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1078</Words>
  <Application>Microsoft Macintosh PowerPoint</Application>
  <PresentationFormat>Widescreen</PresentationFormat>
  <Paragraphs>173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Goyal, Laksh</cp:lastModifiedBy>
  <cp:revision>2</cp:revision>
  <dcterms:created xsi:type="dcterms:W3CDTF">2013-01-27T09:14:16Z</dcterms:created>
  <dcterms:modified xsi:type="dcterms:W3CDTF">2026-05-17T20:23:47Z</dcterms:modified>
  <cp:category/>
</cp:coreProperties>
</file>